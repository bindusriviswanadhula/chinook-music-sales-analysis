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0" r:id="rId6"/>
    <p:sldId id="260" r:id="rId7"/>
    <p:sldId id="261" r:id="rId8"/>
    <p:sldId id="262" r:id="rId9"/>
    <p:sldId id="271" r:id="rId10"/>
    <p:sldId id="27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9BD8AF-7ABA-43E8-BFC1-356C2BDDFF72}">
          <p14:sldIdLst>
            <p14:sldId id="256"/>
            <p14:sldId id="257"/>
            <p14:sldId id="258"/>
            <p14:sldId id="259"/>
            <p14:sldId id="270"/>
            <p14:sldId id="260"/>
            <p14:sldId id="261"/>
            <p14:sldId id="262"/>
            <p14:sldId id="271"/>
            <p14:sldId id="27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E:\DATA%20SCIENCE\NS%20DA\SQL\Project\Submis\newss.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en-IN" dirty="0"/>
              <a:t>CLTV</a:t>
            </a: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bar"/>
        <c:grouping val="clustered"/>
        <c:varyColors val="0"/>
        <c:ser>
          <c:idx val="0"/>
          <c:order val="0"/>
          <c:tx>
            <c:strRef>
              <c:f>newss!$H$1</c:f>
              <c:strCache>
                <c:ptCount val="1"/>
                <c:pt idx="0">
                  <c:v>frequent_purchases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newss!$B$2:$B$13</c:f>
              <c:strCache>
                <c:ptCount val="12"/>
                <c:pt idx="0">
                  <c:v>FrantiÅ¡ek WichterlovÃ¡</c:v>
                </c:pt>
                <c:pt idx="1">
                  <c:v>Helena HolÃ½</c:v>
                </c:pt>
                <c:pt idx="2">
                  <c:v>Hugh O'Reilly</c:v>
                </c:pt>
                <c:pt idx="3">
                  <c:v>Manoj Pareek</c:v>
                </c:pt>
                <c:pt idx="4">
                  <c:v>LuÃ­s GonÃ§alves</c:v>
                </c:pt>
                <c:pt idx="5">
                  <c:v>Fernanda Ramos</c:v>
                </c:pt>
                <c:pt idx="6">
                  <c:v>JoÃ£o Fernandes</c:v>
                </c:pt>
                <c:pt idx="7">
                  <c:v>FranÃ§ois Tremblay</c:v>
                </c:pt>
                <c:pt idx="8">
                  <c:v>Wyatt Girard</c:v>
                </c:pt>
                <c:pt idx="9">
                  <c:v>Jack Smith</c:v>
                </c:pt>
                <c:pt idx="10">
                  <c:v>Enrique MuÃ±oz</c:v>
                </c:pt>
                <c:pt idx="11">
                  <c:v>Phil Hughes</c:v>
                </c:pt>
              </c:strCache>
            </c:strRef>
          </c:cat>
          <c:val>
            <c:numRef>
              <c:f>newss!$H$2:$H$13</c:f>
              <c:numCache>
                <c:formatCode>General</c:formatCode>
                <c:ptCount val="12"/>
                <c:pt idx="0">
                  <c:v>18</c:v>
                </c:pt>
                <c:pt idx="1">
                  <c:v>12</c:v>
                </c:pt>
                <c:pt idx="2">
                  <c:v>13</c:v>
                </c:pt>
                <c:pt idx="3">
                  <c:v>13</c:v>
                </c:pt>
                <c:pt idx="4">
                  <c:v>13</c:v>
                </c:pt>
                <c:pt idx="5">
                  <c:v>15</c:v>
                </c:pt>
                <c:pt idx="6">
                  <c:v>13</c:v>
                </c:pt>
                <c:pt idx="7">
                  <c:v>9</c:v>
                </c:pt>
                <c:pt idx="8">
                  <c:v>11</c:v>
                </c:pt>
                <c:pt idx="9">
                  <c:v>12</c:v>
                </c:pt>
                <c:pt idx="10">
                  <c:v>11</c:v>
                </c:pt>
                <c:pt idx="11">
                  <c:v>11</c:v>
                </c:pt>
              </c:numCache>
            </c:numRef>
          </c:val>
          <c:extLst>
            <c:ext xmlns:c16="http://schemas.microsoft.com/office/drawing/2014/chart" uri="{C3380CC4-5D6E-409C-BE32-E72D297353CC}">
              <c16:uniqueId val="{00000000-B4E9-40F9-A883-1C02E0134879}"/>
            </c:ext>
          </c:extLst>
        </c:ser>
        <c:dLbls>
          <c:showLegendKey val="0"/>
          <c:showVal val="0"/>
          <c:showCatName val="0"/>
          <c:showSerName val="0"/>
          <c:showPercent val="0"/>
          <c:showBubbleSize val="0"/>
        </c:dLbls>
        <c:gapWidth val="247"/>
        <c:overlap val="-20"/>
        <c:axId val="1479132848"/>
        <c:axId val="1479133328"/>
      </c:barChart>
      <c:catAx>
        <c:axId val="1479132848"/>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1479133328"/>
        <c:crosses val="autoZero"/>
        <c:auto val="1"/>
        <c:lblAlgn val="ctr"/>
        <c:lblOffset val="100"/>
        <c:noMultiLvlLbl val="0"/>
      </c:catAx>
      <c:valAx>
        <c:axId val="147913332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479132848"/>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ABBCE-D80B-87A9-13DF-7E97680D98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E1E05C-93B0-6D2D-8BC7-E3EEBE16A0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6A1A54-FD38-571E-F175-DB752F840262}"/>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CDDF99BB-B237-39AB-79B6-5027FE559F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D80AD9-B922-3DC4-C1FA-C06E9F57F2D4}"/>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2435473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C278-CBC4-26E9-9A92-B2BC5B8965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7D1C8B-D05B-FBAE-E290-E272D1552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72630D-BB8D-C145-57EE-7ED4A093C847}"/>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74F05437-6EB9-9990-8473-D3B2F716AD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83DBCA-FE72-9634-0673-5FEFAB0BB9F2}"/>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1901167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09730-300C-1278-F723-9D1DF4429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9881AF-6CB7-9E53-EAAD-F7ADD74847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C78FB5-6080-2812-9225-19CBC6AAEEAC}"/>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E45ADACC-D059-CE98-27F3-0424F068E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9F455A-52D9-C8DA-41FA-043DF7C62E4C}"/>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2739441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4C4D-BE2A-3B30-3AE7-E16A95AEC9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B16124-09D1-7727-C1F1-9CF3669CDF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828135-5C90-14A3-6FC9-C2AD7E265D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561415-77AF-EBFF-AF78-CD82AF9183CE}"/>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6" name="Footer Placeholder 5">
            <a:extLst>
              <a:ext uri="{FF2B5EF4-FFF2-40B4-BE49-F238E27FC236}">
                <a16:creationId xmlns:a16="http://schemas.microsoft.com/office/drawing/2014/main" id="{62C2EB08-5261-CBD7-6A80-25312BBF8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BE68D6-C1DE-B363-D9A0-6DFDAAAF89C5}"/>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3669833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FB9E-411C-561E-AB3F-D99819E60B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6704A0-4006-9F36-C84D-A460C8891B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6AA86A-FC7F-AD0A-028A-143741309F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B68A8F-F762-B453-881B-AD4B9F87D4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6E373D-D962-E2E1-9B49-1E3DE30B3C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0C3305-80E3-BB29-58B1-476164B69717}"/>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8" name="Footer Placeholder 7">
            <a:extLst>
              <a:ext uri="{FF2B5EF4-FFF2-40B4-BE49-F238E27FC236}">
                <a16:creationId xmlns:a16="http://schemas.microsoft.com/office/drawing/2014/main" id="{6B1A8F14-7228-3235-C20C-DC4DEC752F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D268AC-B1B8-454D-13A6-C9A1058972C9}"/>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979096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809D-E6D9-D5F9-8623-DE15EE23BD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1483BA-0FE0-F2DB-A386-337C7A66A167}"/>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4" name="Footer Placeholder 3">
            <a:extLst>
              <a:ext uri="{FF2B5EF4-FFF2-40B4-BE49-F238E27FC236}">
                <a16:creationId xmlns:a16="http://schemas.microsoft.com/office/drawing/2014/main" id="{F1A10957-E7D5-3E2B-296C-42874CE59D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FE7F60-6CD9-AF09-7BBE-EEFD405C8641}"/>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324878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2F223F-8AB3-7C42-4489-B11EA6A43065}"/>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3" name="Footer Placeholder 2">
            <a:extLst>
              <a:ext uri="{FF2B5EF4-FFF2-40B4-BE49-F238E27FC236}">
                <a16:creationId xmlns:a16="http://schemas.microsoft.com/office/drawing/2014/main" id="{1C49B46C-C1BA-5BF7-9BB4-1D51F48DF3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E9FFEE-1575-B1F5-2894-BBECB7B34AD8}"/>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420282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237F-5524-926E-216C-07356FEB5D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F35985-5A22-7695-4B1C-065DE76628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1B1786-9BDB-E70A-4714-6E63BAC45A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3C78C-1182-1A80-EC3F-3CE13C4DA9E9}"/>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6" name="Footer Placeholder 5">
            <a:extLst>
              <a:ext uri="{FF2B5EF4-FFF2-40B4-BE49-F238E27FC236}">
                <a16:creationId xmlns:a16="http://schemas.microsoft.com/office/drawing/2014/main" id="{3EB43FF7-949A-E445-F5A9-DD3B11F12B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1F1D3C-52A4-7A73-9B33-12F303EDD7AE}"/>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2128795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7E60-F91F-492A-14A5-E86BDA9A47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D69A2E-8AB0-C76D-3783-D57097536E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03CABA-9753-CA7A-A9D7-2508B934B0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51B175-E2B0-D970-5E47-A21C2087CB19}"/>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6" name="Footer Placeholder 5">
            <a:extLst>
              <a:ext uri="{FF2B5EF4-FFF2-40B4-BE49-F238E27FC236}">
                <a16:creationId xmlns:a16="http://schemas.microsoft.com/office/drawing/2014/main" id="{49AF9ABF-DC79-AB72-6B58-D182766E6B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4411AD-10B3-97AA-2849-35C790DEF9F7}"/>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11697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CE67B-63BE-B41E-2081-2F4515419E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98E567-CF37-33F2-F8B8-9E519075D7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867BC-4169-AE17-715F-17BC6BBB9BEB}"/>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23CDFD2B-4D47-D9A3-6DAC-2058BAEAF1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230052-AAC2-313D-8564-F9014F803E1A}"/>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3762382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269058-6FD2-CC4B-49AC-005AD0A43E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886F07-0E48-D1F2-6437-CF38F0BE7E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AAC70A-C5A2-5D55-D6AB-5913B53828F3}"/>
              </a:ext>
            </a:extLst>
          </p:cNvPr>
          <p:cNvSpPr>
            <a:spLocks noGrp="1"/>
          </p:cNvSpPr>
          <p:nvPr>
            <p:ph type="dt" sz="half" idx="10"/>
          </p:nvPr>
        </p:nvSpPr>
        <p:spPr/>
        <p:txBody>
          <a:body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A6B5E5EA-AAF2-C3B8-D64E-E2711E8E21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03FF1-CF43-5ADD-C2F6-A70ED7C68311}"/>
              </a:ext>
            </a:extLst>
          </p:cNvPr>
          <p:cNvSpPr>
            <a:spLocks noGrp="1"/>
          </p:cNvSpPr>
          <p:nvPr>
            <p:ph type="sldNum" sz="quarter" idx="12"/>
          </p:nvPr>
        </p:nvSpPr>
        <p:spPr/>
        <p:txBody>
          <a:bodyPr/>
          <a:lstStyle/>
          <a:p>
            <a:fld id="{9E7A4499-1389-46F9-B5B8-F1B33C78C1B8}" type="slidenum">
              <a:rPr lang="en-IN" smtClean="0"/>
              <a:t>‹#›</a:t>
            </a:fld>
            <a:endParaRPr lang="en-IN"/>
          </a:p>
        </p:txBody>
      </p:sp>
    </p:spTree>
    <p:extLst>
      <p:ext uri="{BB962C8B-B14F-4D97-AF65-F5344CB8AC3E}">
        <p14:creationId xmlns:p14="http://schemas.microsoft.com/office/powerpoint/2010/main" val="2776675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0602E-F4CA-EDA2-3A25-2327E0D665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9533AB-FB8B-4D1B-2D10-CA32AD9667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DA3F3F-AB46-7DBA-EF19-F54A3AD63D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FA4EB-3F98-4786-9F89-2FED6E0F8013}" type="datetimeFigureOut">
              <a:rPr lang="en-IN" smtClean="0"/>
              <a:t>04-12-2025</a:t>
            </a:fld>
            <a:endParaRPr lang="en-IN"/>
          </a:p>
        </p:txBody>
      </p:sp>
      <p:sp>
        <p:nvSpPr>
          <p:cNvPr id="5" name="Footer Placeholder 4">
            <a:extLst>
              <a:ext uri="{FF2B5EF4-FFF2-40B4-BE49-F238E27FC236}">
                <a16:creationId xmlns:a16="http://schemas.microsoft.com/office/drawing/2014/main" id="{7AB74089-613C-6FB2-6967-811A8E209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6840F0-8ABE-6052-41C5-687FDB53BA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7A4499-1389-46F9-B5B8-F1B33C78C1B8}" type="slidenum">
              <a:rPr lang="en-IN" smtClean="0"/>
              <a:t>‹#›</a:t>
            </a:fld>
            <a:endParaRPr lang="en-IN"/>
          </a:p>
        </p:txBody>
      </p:sp>
    </p:spTree>
    <p:extLst>
      <p:ext uri="{BB962C8B-B14F-4D97-AF65-F5344CB8AC3E}">
        <p14:creationId xmlns:p14="http://schemas.microsoft.com/office/powerpoint/2010/main" val="1164757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svgsilh.com/image/25706.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openclipart.org/detail/159643"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EF99-CB1D-4C64-6FB8-7AFFC284C868}"/>
              </a:ext>
            </a:extLst>
          </p:cNvPr>
          <p:cNvSpPr>
            <a:spLocks noGrp="1"/>
          </p:cNvSpPr>
          <p:nvPr>
            <p:ph type="ctrTitle"/>
          </p:nvPr>
        </p:nvSpPr>
        <p:spPr>
          <a:xfrm>
            <a:off x="1524000" y="506902"/>
            <a:ext cx="9144000" cy="2387600"/>
          </a:xfrm>
        </p:spPr>
        <p:txBody>
          <a:bodyPr>
            <a:normAutofit/>
          </a:bodyPr>
          <a:lstStyle/>
          <a:p>
            <a:r>
              <a:rPr lang="en-US" sz="4800" b="1" i="1" dirty="0">
                <a:latin typeface="Baskerville Old Face" panose="02020602080505020303" pitchFamily="18" charset="0"/>
                <a:cs typeface="Times New Roman" panose="02020603050405020304" pitchFamily="18" charset="0"/>
              </a:rPr>
              <a:t>Customer Behavior and Sales Analysis Using SQL – Chinook Music Database</a:t>
            </a:r>
            <a:endParaRPr lang="en-IN" sz="4800" b="1" i="1" dirty="0">
              <a:latin typeface="Baskerville Old Face" panose="02020602080505020303"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87295A-0AE8-135B-0A2E-D8A454BF6CA7}"/>
              </a:ext>
            </a:extLst>
          </p:cNvPr>
          <p:cNvSpPr>
            <a:spLocks noGrp="1"/>
          </p:cNvSpPr>
          <p:nvPr>
            <p:ph type="subTitle" idx="1"/>
          </p:nvPr>
        </p:nvSpPr>
        <p:spPr>
          <a:xfrm>
            <a:off x="0" y="5433889"/>
            <a:ext cx="4246684" cy="1230679"/>
          </a:xfrm>
        </p:spPr>
        <p:txBody>
          <a:bodyPr>
            <a:normAutofit/>
          </a:bodyPr>
          <a:lstStyle/>
          <a:p>
            <a:r>
              <a:rPr lang="en-IN" sz="2000" dirty="0">
                <a:latin typeface="Berlin Sans FB" panose="020E0602020502020306" pitchFamily="34" charset="0"/>
              </a:rPr>
              <a:t>Presented by :</a:t>
            </a:r>
          </a:p>
          <a:p>
            <a:r>
              <a:rPr lang="en-IN" sz="2000" dirty="0">
                <a:latin typeface="Berlin Sans FB" panose="020E0602020502020306" pitchFamily="34" charset="0"/>
              </a:rPr>
              <a:t>Bindusri Viswanadhula</a:t>
            </a:r>
          </a:p>
        </p:txBody>
      </p:sp>
      <p:pic>
        <p:nvPicPr>
          <p:cNvPr id="5" name="Graphic 4">
            <a:extLst>
              <a:ext uri="{FF2B5EF4-FFF2-40B4-BE49-F238E27FC236}">
                <a16:creationId xmlns:a16="http://schemas.microsoft.com/office/drawing/2014/main" id="{B3B60281-26EA-DEC6-B1FB-898E88509242}"/>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7992207" y="4204556"/>
            <a:ext cx="3657601" cy="2217702"/>
          </a:xfrm>
          <a:prstGeom prst="rect">
            <a:avLst/>
          </a:prstGeom>
        </p:spPr>
      </p:pic>
    </p:spTree>
    <p:extLst>
      <p:ext uri="{BB962C8B-B14F-4D97-AF65-F5344CB8AC3E}">
        <p14:creationId xmlns:p14="http://schemas.microsoft.com/office/powerpoint/2010/main" val="4195480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0A4F-1ACF-02BF-7BD2-B74B02049635}"/>
              </a:ext>
            </a:extLst>
          </p:cNvPr>
          <p:cNvSpPr>
            <a:spLocks noGrp="1"/>
          </p:cNvSpPr>
          <p:nvPr>
            <p:ph type="title"/>
          </p:nvPr>
        </p:nvSpPr>
        <p:spPr>
          <a:xfrm>
            <a:off x="4485210" y="421377"/>
            <a:ext cx="2356339" cy="773053"/>
          </a:xfrm>
        </p:spPr>
        <p:txBody>
          <a:bodyPr/>
          <a:lstStyle/>
          <a:p>
            <a:r>
              <a:rPr lang="en-US" b="1" i="1" dirty="0">
                <a:latin typeface="Times New Roman" panose="02020603050405020304" pitchFamily="18" charset="0"/>
                <a:cs typeface="Times New Roman" panose="02020603050405020304" pitchFamily="18" charset="0"/>
              </a:rPr>
              <a:t>Contents</a:t>
            </a:r>
            <a:endParaRPr lang="en-IN" b="1" i="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5F86314-1506-A9C6-91D3-88C49ED91C02}"/>
              </a:ext>
            </a:extLst>
          </p:cNvPr>
          <p:cNvSpPr>
            <a:spLocks noGrp="1" noChangeArrowheads="1"/>
          </p:cNvSpPr>
          <p:nvPr>
            <p:ph idx="1"/>
          </p:nvPr>
        </p:nvSpPr>
        <p:spPr bwMode="auto">
          <a:xfrm>
            <a:off x="668216" y="2176302"/>
            <a:ext cx="46863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Overview and Objective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Structure &amp; Key Tables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 &amp; Preparation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Purchase Behavior Insights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Genre &amp; Track-Level Sales Analysis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4C17A0AD-F659-B517-B05E-C9005DB238B4}"/>
              </a:ext>
            </a:extLst>
          </p:cNvPr>
          <p:cNvSpPr txBox="1">
            <a:spLocks noChangeArrowheads="1"/>
          </p:cNvSpPr>
          <p:nvPr/>
        </p:nvSpPr>
        <p:spPr bwMode="auto">
          <a:xfrm>
            <a:off x="5586046" y="2176302"/>
            <a:ext cx="4686300" cy="3098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eaLnBrk="0" fontAlgn="base" hangingPunct="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Churn Rate &amp; Retention Metrics</a:t>
            </a:r>
          </a:p>
          <a:p>
            <a:pPr marL="457200" lvl="1" indent="0" algn="just" eaLnBrk="0" fontAlgn="base" hangingPunct="0">
              <a:buNone/>
            </a:pPr>
            <a:endParaRPr lang="en-IN" sz="2000" dirty="0">
              <a:latin typeface="Times New Roman" panose="02020603050405020304" pitchFamily="18" charset="0"/>
              <a:cs typeface="Times New Roman" panose="02020603050405020304" pitchFamily="18" charset="0"/>
            </a:endParaRPr>
          </a:p>
          <a:p>
            <a:pPr lvl="1" algn="just" eaLnBrk="0" fontAlgn="base" hangingPunct="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Customer Segmentation &amp; CLTV</a:t>
            </a:r>
          </a:p>
          <a:p>
            <a:pPr marL="457200" lvl="1" indent="0" algn="just" eaLnBrk="0" fontAlgn="base" hangingPunct="0">
              <a:buNone/>
            </a:pPr>
            <a:endParaRPr lang="en-IN" sz="2000" dirty="0">
              <a:latin typeface="Times New Roman" panose="02020603050405020304" pitchFamily="18" charset="0"/>
              <a:cs typeface="Times New Roman" panose="02020603050405020304" pitchFamily="18" charset="0"/>
            </a:endParaRPr>
          </a:p>
          <a:p>
            <a:pPr lvl="1" algn="just" eaLnBrk="0" fontAlgn="base" hangingPunct="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Geographical Performance Overview</a:t>
            </a:r>
          </a:p>
          <a:p>
            <a:pPr marL="457200" lvl="1" indent="0" algn="just" eaLnBrk="0" fontAlgn="base" hangingPunct="0">
              <a:buNone/>
            </a:pPr>
            <a:endParaRPr lang="en-IN" sz="2000" dirty="0">
              <a:latin typeface="Times New Roman" panose="02020603050405020304" pitchFamily="18" charset="0"/>
              <a:cs typeface="Times New Roman" panose="02020603050405020304" pitchFamily="18" charset="0"/>
            </a:endParaRPr>
          </a:p>
          <a:p>
            <a:pPr lvl="1" algn="just" eaLnBrk="0" fontAlgn="base" hangingPunct="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Business Recommendations</a:t>
            </a:r>
          </a:p>
          <a:p>
            <a:pPr marL="457200" lvl="1" indent="0" algn="just" eaLnBrk="0" fontAlgn="base" hangingPunct="0">
              <a:buNone/>
            </a:pPr>
            <a:endParaRPr lang="en-IN" sz="2000" dirty="0">
              <a:latin typeface="Times New Roman" panose="02020603050405020304" pitchFamily="18" charset="0"/>
              <a:cs typeface="Times New Roman" panose="02020603050405020304" pitchFamily="18" charset="0"/>
            </a:endParaRPr>
          </a:p>
          <a:p>
            <a:pPr lvl="1" algn="just" eaLnBrk="0" fontAlgn="base" hangingPunct="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Conclusion &amp; Key Takeaways</a:t>
            </a:r>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79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5637-4DAD-9E65-7AA9-8E6E0640B58F}"/>
              </a:ext>
            </a:extLst>
          </p:cNvPr>
          <p:cNvSpPr>
            <a:spLocks noGrp="1"/>
          </p:cNvSpPr>
          <p:nvPr>
            <p:ph type="title"/>
          </p:nvPr>
        </p:nvSpPr>
        <p:spPr>
          <a:xfrm>
            <a:off x="838200" y="462450"/>
            <a:ext cx="10515600" cy="782515"/>
          </a:xfrm>
        </p:spPr>
        <p:txBody>
          <a:bodyPr>
            <a:normAutofit/>
          </a:bodyPr>
          <a:lstStyle/>
          <a:p>
            <a:pPr algn="ctr"/>
            <a:r>
              <a:rPr lang="en-IN" sz="3600" b="1" i="1" dirty="0">
                <a:latin typeface="Times New Roman" panose="02020603050405020304" pitchFamily="18" charset="0"/>
                <a:cs typeface="Times New Roman" panose="02020603050405020304" pitchFamily="18" charset="0"/>
              </a:rPr>
              <a:t>Project Overview</a:t>
            </a:r>
            <a:r>
              <a:rPr lang="en-IN" sz="3600" i="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C161AFA9-DD0D-EF05-85E6-DBA61CDB7A07}"/>
              </a:ext>
            </a:extLst>
          </p:cNvPr>
          <p:cNvSpPr>
            <a:spLocks noGrp="1"/>
          </p:cNvSpPr>
          <p:nvPr>
            <p:ph idx="1"/>
          </p:nvPr>
        </p:nvSpPr>
        <p:spPr>
          <a:xfrm>
            <a:off x="838200" y="1652954"/>
            <a:ext cx="10515600" cy="435133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 this project, I explored the Chinook Music Store database to understand how customers interact with the platform like what they buy, how often they purchase, and which tracks or genres drive the most revenue. Using SQL, I analyzed patterns in customer behavior, sales performance, and regional trends.</a:t>
            </a:r>
          </a:p>
          <a:p>
            <a:pPr marL="0" indent="0">
              <a:buNone/>
            </a:pPr>
            <a:endParaRPr lang="en-IN" sz="2500" dirty="0"/>
          </a:p>
        </p:txBody>
      </p:sp>
    </p:spTree>
    <p:extLst>
      <p:ext uri="{BB962C8B-B14F-4D97-AF65-F5344CB8AC3E}">
        <p14:creationId xmlns:p14="http://schemas.microsoft.com/office/powerpoint/2010/main" val="27271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5B7A9-C82B-5B30-8F61-50A528E420DE}"/>
              </a:ext>
            </a:extLst>
          </p:cNvPr>
          <p:cNvSpPr>
            <a:spLocks noGrp="1"/>
          </p:cNvSpPr>
          <p:nvPr>
            <p:ph type="title"/>
          </p:nvPr>
        </p:nvSpPr>
        <p:spPr>
          <a:xfrm>
            <a:off x="641555" y="332887"/>
            <a:ext cx="10515600" cy="957691"/>
          </a:xfrm>
        </p:spPr>
        <p:txBody>
          <a:bodyPr>
            <a:normAutofit/>
          </a:bodyPr>
          <a:lstStyle/>
          <a:p>
            <a:pPr algn="ctr"/>
            <a:r>
              <a:rPr lang="en-IN" sz="3600" b="1" i="1" dirty="0">
                <a:latin typeface="Times New Roman" panose="02020603050405020304" pitchFamily="18" charset="0"/>
                <a:cs typeface="Times New Roman" panose="02020603050405020304" pitchFamily="18" charset="0"/>
              </a:rPr>
              <a:t>Project Objective</a:t>
            </a:r>
          </a:p>
        </p:txBody>
      </p:sp>
      <p:sp>
        <p:nvSpPr>
          <p:cNvPr id="4" name="Rectangle 1">
            <a:extLst>
              <a:ext uri="{FF2B5EF4-FFF2-40B4-BE49-F238E27FC236}">
                <a16:creationId xmlns:a16="http://schemas.microsoft.com/office/drawing/2014/main" id="{145773AD-357B-CEC1-B8D2-3861B5F1DA46}"/>
              </a:ext>
            </a:extLst>
          </p:cNvPr>
          <p:cNvSpPr>
            <a:spLocks noGrp="1" noChangeArrowheads="1"/>
          </p:cNvSpPr>
          <p:nvPr>
            <p:ph idx="1"/>
          </p:nvPr>
        </p:nvSpPr>
        <p:spPr bwMode="auto">
          <a:xfrm>
            <a:off x="1261696" y="1720839"/>
            <a:ext cx="96686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Dive deep into customer purchasing behavior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which tracks, genres, and artists perform the best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Analyze churn patterns and customer retention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Estimate lifetime value (CLTV) for different customer segments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Turn insights into actionable business recommendations</a:t>
            </a:r>
          </a:p>
        </p:txBody>
      </p:sp>
    </p:spTree>
    <p:extLst>
      <p:ext uri="{BB962C8B-B14F-4D97-AF65-F5344CB8AC3E}">
        <p14:creationId xmlns:p14="http://schemas.microsoft.com/office/powerpoint/2010/main" val="2600751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08F3-7D14-D83A-7586-2B5FA266403A}"/>
              </a:ext>
            </a:extLst>
          </p:cNvPr>
          <p:cNvSpPr>
            <a:spLocks noGrp="1"/>
          </p:cNvSpPr>
          <p:nvPr>
            <p:ph type="title"/>
          </p:nvPr>
        </p:nvSpPr>
        <p:spPr/>
        <p:txBody>
          <a:bodyPr>
            <a:normAutofit/>
          </a:bodyPr>
          <a:lstStyle/>
          <a:p>
            <a:pPr algn="ctr"/>
            <a:r>
              <a:rPr lang="en-HK" sz="3600" b="1" i="1" dirty="0">
                <a:latin typeface="Times New Roman" panose="02020603050405020304" pitchFamily="18" charset="0"/>
                <a:cs typeface="Times New Roman" panose="02020603050405020304" pitchFamily="18" charset="0"/>
              </a:rPr>
              <a:t>Chinook database schema</a:t>
            </a:r>
          </a:p>
        </p:txBody>
      </p:sp>
      <p:pic>
        <p:nvPicPr>
          <p:cNvPr id="5" name="Content Placeholder 4">
            <a:extLst>
              <a:ext uri="{FF2B5EF4-FFF2-40B4-BE49-F238E27FC236}">
                <a16:creationId xmlns:a16="http://schemas.microsoft.com/office/drawing/2014/main" id="{65D142E9-D4F8-915A-2752-99E76482FD14}"/>
              </a:ext>
            </a:extLst>
          </p:cNvPr>
          <p:cNvPicPr>
            <a:picLocks noGrp="1" noChangeAspect="1"/>
          </p:cNvPicPr>
          <p:nvPr>
            <p:ph idx="1"/>
          </p:nvPr>
        </p:nvPicPr>
        <p:blipFill>
          <a:blip r:embed="rId2"/>
          <a:stretch>
            <a:fillRect/>
          </a:stretch>
        </p:blipFill>
        <p:spPr>
          <a:xfrm>
            <a:off x="1828799" y="1988770"/>
            <a:ext cx="8856331" cy="3979412"/>
          </a:xfrm>
          <a:prstGeom prst="rect">
            <a:avLst/>
          </a:prstGeom>
        </p:spPr>
      </p:pic>
    </p:spTree>
    <p:extLst>
      <p:ext uri="{BB962C8B-B14F-4D97-AF65-F5344CB8AC3E}">
        <p14:creationId xmlns:p14="http://schemas.microsoft.com/office/powerpoint/2010/main" val="163156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EAF0-27AE-F50F-904A-CE82B78DF3E4}"/>
              </a:ext>
            </a:extLst>
          </p:cNvPr>
          <p:cNvSpPr>
            <a:spLocks noGrp="1"/>
          </p:cNvSpPr>
          <p:nvPr>
            <p:ph type="title"/>
          </p:nvPr>
        </p:nvSpPr>
        <p:spPr>
          <a:xfrm>
            <a:off x="838200" y="79801"/>
            <a:ext cx="10515600" cy="904937"/>
          </a:xfrm>
        </p:spPr>
        <p:txBody>
          <a:bodyPr>
            <a:normAutofit/>
          </a:bodyPr>
          <a:lstStyle/>
          <a:p>
            <a:pPr algn="ctr"/>
            <a:r>
              <a:rPr lang="en-IN" sz="3600" b="1" i="1" dirty="0">
                <a:latin typeface="Times New Roman" panose="02020603050405020304" pitchFamily="18" charset="0"/>
                <a:cs typeface="Times New Roman" panose="02020603050405020304" pitchFamily="18" charset="0"/>
              </a:rPr>
              <a:t>Database Structure &amp; Key Tables</a:t>
            </a:r>
          </a:p>
        </p:txBody>
      </p:sp>
      <p:sp>
        <p:nvSpPr>
          <p:cNvPr id="3" name="Content Placeholder 2">
            <a:extLst>
              <a:ext uri="{FF2B5EF4-FFF2-40B4-BE49-F238E27FC236}">
                <a16:creationId xmlns:a16="http://schemas.microsoft.com/office/drawing/2014/main" id="{F565D10C-4486-C3C2-0D22-3DB1D80B7F64}"/>
              </a:ext>
            </a:extLst>
          </p:cNvPr>
          <p:cNvSpPr>
            <a:spLocks noGrp="1"/>
          </p:cNvSpPr>
          <p:nvPr>
            <p:ph idx="1"/>
          </p:nvPr>
        </p:nvSpPr>
        <p:spPr>
          <a:xfrm>
            <a:off x="933449" y="1104458"/>
            <a:ext cx="10325101" cy="5507160"/>
          </a:xfrm>
        </p:spPr>
        <p:txBody>
          <a:bodyPr>
            <a:normAutofit fontScale="62500" lnSpcReduction="20000"/>
          </a:bodyPr>
          <a:lstStyle/>
          <a:p>
            <a:pPr marL="0" indent="0" algn="just">
              <a:buNone/>
            </a:pPr>
            <a:r>
              <a:rPr lang="en-US" altLang="en-US" sz="3800" dirty="0">
                <a:latin typeface="Times New Roman" panose="02020603050405020304" pitchFamily="18" charset="0"/>
                <a:cs typeface="Times New Roman" panose="02020603050405020304" pitchFamily="18" charset="0"/>
              </a:rPr>
              <a:t>The Chinook database is a standard music store schema that represents practical business operations such as customer orders, product inventory, billing, and track metadata</a:t>
            </a:r>
            <a:r>
              <a:rPr lang="en-US" sz="3800" dirty="0">
                <a:latin typeface="Times New Roman" panose="02020603050405020304" pitchFamily="18" charset="0"/>
                <a:cs typeface="Times New Roman" panose="02020603050405020304" pitchFamily="18" charset="0"/>
              </a:rPr>
              <a:t>.</a:t>
            </a:r>
          </a:p>
          <a:p>
            <a:pPr marL="0" indent="0">
              <a:buNone/>
            </a:pPr>
            <a:endParaRPr lang="en-US" sz="3800" dirty="0">
              <a:latin typeface="Times New Roman" panose="02020603050405020304" pitchFamily="18" charset="0"/>
              <a:cs typeface="Times New Roman" panose="02020603050405020304" pitchFamily="18" charset="0"/>
            </a:endParaRPr>
          </a:p>
          <a:p>
            <a:pPr marL="0" indent="0">
              <a:buNone/>
            </a:pPr>
            <a:r>
              <a:rPr lang="en-US" sz="3800" dirty="0">
                <a:latin typeface="Times New Roman" panose="02020603050405020304" pitchFamily="18" charset="0"/>
                <a:cs typeface="Times New Roman" panose="02020603050405020304" pitchFamily="18" charset="0"/>
              </a:rPr>
              <a:t>For this project, I primarily worked with the following key tables:</a:t>
            </a:r>
          </a:p>
          <a:p>
            <a:pPr marL="0" indent="0">
              <a:buNone/>
            </a:pPr>
            <a:endParaRPr lang="en-US" sz="2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Customer – stores customer details including location and support rep</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Invoice – contains order-level information including date, amount, and billing address</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Invoice_Line – provides item-level details (track, quantity, unit price)</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Track – includes all music track data like name, album, genre, price</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Album – links tracks to albums</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Artist – connects albums to artists</a:t>
            </a:r>
          </a:p>
          <a:p>
            <a:pPr eaLnBrk="0" fontAlgn="base" hangingPunct="0">
              <a:lnSpc>
                <a:spcPct val="100000"/>
              </a:lnSpc>
              <a:spcBef>
                <a:spcPct val="0"/>
              </a:spcBef>
              <a:spcAft>
                <a:spcPct val="0"/>
              </a:spcAft>
            </a:pPr>
            <a:endParaRPr lang="en-US" altLang="en-US" sz="35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3500" dirty="0">
                <a:latin typeface="Times New Roman" panose="02020603050405020304" pitchFamily="18" charset="0"/>
                <a:cs typeface="Times New Roman" panose="02020603050405020304" pitchFamily="18" charset="0"/>
              </a:rPr>
              <a:t>Genre – helps categorize tracks into music types</a:t>
            </a:r>
          </a:p>
          <a:p>
            <a:endParaRPr lang="en-IN" sz="2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B4C7B14-2AFB-D11E-4883-B3FEB4265343}"/>
              </a:ext>
            </a:extLst>
          </p:cNvPr>
          <p:cNvPicPr>
            <a:picLocks noChangeAspect="1"/>
          </p:cNvPicPr>
          <p:nvPr/>
        </p:nvPicPr>
        <p:blipFill>
          <a:blip r:embed="rId2"/>
          <a:stretch>
            <a:fillRect/>
          </a:stretch>
        </p:blipFill>
        <p:spPr>
          <a:xfrm>
            <a:off x="9211906" y="4129666"/>
            <a:ext cx="2141894" cy="2560610"/>
          </a:xfrm>
          <a:prstGeom prst="rect">
            <a:avLst/>
          </a:prstGeom>
        </p:spPr>
      </p:pic>
    </p:spTree>
    <p:extLst>
      <p:ext uri="{BB962C8B-B14F-4D97-AF65-F5344CB8AC3E}">
        <p14:creationId xmlns:p14="http://schemas.microsoft.com/office/powerpoint/2010/main" val="4185261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6A1F9-A240-FFB6-6BDB-4C674591CCC8}"/>
              </a:ext>
            </a:extLst>
          </p:cNvPr>
          <p:cNvSpPr>
            <a:spLocks noGrp="1"/>
          </p:cNvSpPr>
          <p:nvPr>
            <p:ph type="title"/>
          </p:nvPr>
        </p:nvSpPr>
        <p:spPr>
          <a:xfrm>
            <a:off x="838200" y="165739"/>
            <a:ext cx="10515600" cy="860976"/>
          </a:xfrm>
        </p:spPr>
        <p:txBody>
          <a:bodyPr>
            <a:normAutofit/>
          </a:bodyPr>
          <a:lstStyle/>
          <a:p>
            <a:pPr algn="ctr"/>
            <a:r>
              <a:rPr lang="en-IN" sz="3600" b="1" i="1" dirty="0">
                <a:latin typeface="Times New Roman" panose="02020603050405020304" pitchFamily="18" charset="0"/>
                <a:cs typeface="Times New Roman" panose="02020603050405020304" pitchFamily="18" charset="0"/>
              </a:rPr>
              <a:t>Data Cleaning &amp; Preparation</a:t>
            </a:r>
          </a:p>
        </p:txBody>
      </p:sp>
      <p:sp>
        <p:nvSpPr>
          <p:cNvPr id="3" name="Content Placeholder 2">
            <a:extLst>
              <a:ext uri="{FF2B5EF4-FFF2-40B4-BE49-F238E27FC236}">
                <a16:creationId xmlns:a16="http://schemas.microsoft.com/office/drawing/2014/main" id="{C27C2764-81C2-36E3-7733-E1F7B55DAF14}"/>
              </a:ext>
            </a:extLst>
          </p:cNvPr>
          <p:cNvSpPr>
            <a:spLocks noGrp="1"/>
          </p:cNvSpPr>
          <p:nvPr>
            <p:ph idx="1"/>
          </p:nvPr>
        </p:nvSpPr>
        <p:spPr>
          <a:xfrm>
            <a:off x="838200" y="1350839"/>
            <a:ext cx="10515600" cy="4838946"/>
          </a:xfrm>
        </p:spPr>
        <p:txBody>
          <a:bodyPr>
            <a:noAutofit/>
          </a:bodyPr>
          <a:lstStyle/>
          <a:p>
            <a:pPr algn="just"/>
            <a:r>
              <a:rPr lang="en-US" sz="2400" dirty="0">
                <a:latin typeface="Times New Roman" panose="02020603050405020304" pitchFamily="18" charset="0"/>
                <a:cs typeface="Times New Roman" panose="02020603050405020304" pitchFamily="18" charset="0"/>
              </a:rPr>
              <a:t>Before going into analysis, I performed a brief review of the dataset to look for missing values, duplicates, and inconsistencies.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primary fields, including invoice_date, total, track_id, and customer_id, were completed and clean. However, a few optional entries in the customer database, such as state, fax, and company had missing values, which were left alone because they had no impact on the research project.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 also searched for duplicate records using groups. Minor repeats such as purchasing the same music numerous times on the same invoice were expected and acceptable.  Overall, the data was well-structured and needed just minor cleanup before querying.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63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D7D6E-AEC1-CCD1-FA89-54E6201DD475}"/>
              </a:ext>
            </a:extLst>
          </p:cNvPr>
          <p:cNvSpPr>
            <a:spLocks noGrp="1"/>
          </p:cNvSpPr>
          <p:nvPr>
            <p:ph type="title"/>
          </p:nvPr>
        </p:nvSpPr>
        <p:spPr>
          <a:xfrm>
            <a:off x="838200" y="175651"/>
            <a:ext cx="10515600" cy="975946"/>
          </a:xfrm>
        </p:spPr>
        <p:txBody>
          <a:bodyPr>
            <a:normAutofit/>
          </a:bodyPr>
          <a:lstStyle/>
          <a:p>
            <a:pPr algn="ctr"/>
            <a:r>
              <a:rPr lang="en-IN" sz="3600" b="1" i="1" dirty="0">
                <a:latin typeface="Times New Roman" panose="02020603050405020304" pitchFamily="18" charset="0"/>
                <a:cs typeface="Times New Roman" panose="02020603050405020304" pitchFamily="18" charset="0"/>
              </a:rPr>
              <a:t>Customer Purchase Behaviour Insights</a:t>
            </a:r>
          </a:p>
        </p:txBody>
      </p:sp>
      <p:sp>
        <p:nvSpPr>
          <p:cNvPr id="3" name="Content Placeholder 2">
            <a:extLst>
              <a:ext uri="{FF2B5EF4-FFF2-40B4-BE49-F238E27FC236}">
                <a16:creationId xmlns:a16="http://schemas.microsoft.com/office/drawing/2014/main" id="{3B36E010-E04C-7DD9-1808-4563E8719255}"/>
              </a:ext>
            </a:extLst>
          </p:cNvPr>
          <p:cNvSpPr>
            <a:spLocks noGrp="1"/>
          </p:cNvSpPr>
          <p:nvPr>
            <p:ph idx="1"/>
          </p:nvPr>
        </p:nvSpPr>
        <p:spPr>
          <a:xfrm>
            <a:off x="838200" y="1542757"/>
            <a:ext cx="10860454" cy="1495083"/>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To understand how customers interact with the Chinook platform, I analyzed their purchase frequency, total spending, and average order value. Using the invoice and invoice_line tables, I grouped the data by customer to track how often they buy and how much they typically spend</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ECACB83-493F-C70E-583E-0A435BF56AE3}"/>
              </a:ext>
            </a:extLst>
          </p:cNvPr>
          <p:cNvPicPr>
            <a:picLocks noChangeAspect="1"/>
          </p:cNvPicPr>
          <p:nvPr/>
        </p:nvPicPr>
        <p:blipFill>
          <a:blip r:embed="rId2"/>
          <a:stretch>
            <a:fillRect/>
          </a:stretch>
        </p:blipFill>
        <p:spPr>
          <a:xfrm>
            <a:off x="7295967" y="3309912"/>
            <a:ext cx="4639846" cy="2751991"/>
          </a:xfrm>
          <a:prstGeom prst="rect">
            <a:avLst/>
          </a:prstGeom>
        </p:spPr>
      </p:pic>
      <p:sp>
        <p:nvSpPr>
          <p:cNvPr id="13" name="TextBox 12">
            <a:extLst>
              <a:ext uri="{FF2B5EF4-FFF2-40B4-BE49-F238E27FC236}">
                <a16:creationId xmlns:a16="http://schemas.microsoft.com/office/drawing/2014/main" id="{F4E821CA-2738-41BB-8852-D7638480F000}"/>
              </a:ext>
            </a:extLst>
          </p:cNvPr>
          <p:cNvSpPr txBox="1"/>
          <p:nvPr/>
        </p:nvSpPr>
        <p:spPr>
          <a:xfrm>
            <a:off x="914401" y="3429000"/>
            <a:ext cx="5889522" cy="2862322"/>
          </a:xfrm>
          <a:prstGeom prst="rect">
            <a:avLst/>
          </a:prstGeom>
          <a:noFill/>
        </p:spPr>
        <p:txBody>
          <a:bodyPr wrap="square">
            <a:spAutoFit/>
          </a:bodyPr>
          <a:lstStyle/>
          <a:p>
            <a:pPr marL="285750" indent="-285750" algn="just" eaLnBrk="0" fontAlgn="base" hangingPunct="0">
              <a:lnSpc>
                <a:spcPct val="1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Most customers made 5 to 13 purchases, with a few high-frequency buyers crossing 15+ orders</a:t>
            </a:r>
          </a:p>
          <a:p>
            <a:pPr marL="0" lvl="0" indent="0"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285750" indent="-285750" algn="just" eaLnBrk="0" fontAlgn="base" hangingPunct="0">
              <a:lnSpc>
                <a:spcPct val="1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Average order value across active customers ranged from 7 to 11</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285750" indent="-285750" algn="just" eaLnBrk="0" fontAlgn="base" hangingPunct="0">
              <a:lnSpc>
                <a:spcPct val="10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Top spenders like </a:t>
            </a:r>
            <a:r>
              <a:rPr lang="en-US" altLang="en-US" sz="2000" i="1" dirty="0">
                <a:latin typeface="Times New Roman" panose="02020603050405020304" pitchFamily="18" charset="0"/>
                <a:cs typeface="Times New Roman" panose="02020603050405020304" pitchFamily="18" charset="0"/>
              </a:rPr>
              <a:t>František </a:t>
            </a:r>
            <a:r>
              <a:rPr lang="en-US" altLang="en-US" sz="2000" i="1" dirty="0" err="1">
                <a:latin typeface="Times New Roman" panose="02020603050405020304" pitchFamily="18" charset="0"/>
                <a:cs typeface="Times New Roman" panose="02020603050405020304" pitchFamily="18" charset="0"/>
              </a:rPr>
              <a:t>Wichterlová</a:t>
            </a:r>
            <a:r>
              <a:rPr lang="en-US" altLang="en-US" sz="2000" dirty="0">
                <a:latin typeface="Times New Roman" panose="02020603050405020304" pitchFamily="18" charset="0"/>
                <a:cs typeface="Times New Roman" panose="02020603050405020304" pitchFamily="18" charset="0"/>
              </a:rPr>
              <a:t> and </a:t>
            </a:r>
            <a:r>
              <a:rPr lang="en-US" altLang="en-US" sz="2000" i="1" dirty="0">
                <a:latin typeface="Times New Roman" panose="02020603050405020304" pitchFamily="18" charset="0"/>
                <a:cs typeface="Times New Roman" panose="02020603050405020304" pitchFamily="18" charset="0"/>
              </a:rPr>
              <a:t>Helena Holý</a:t>
            </a:r>
            <a:r>
              <a:rPr lang="en-US" altLang="en-US" sz="2000" dirty="0">
                <a:latin typeface="Times New Roman" panose="02020603050405020304" pitchFamily="18" charset="0"/>
                <a:cs typeface="Times New Roman" panose="02020603050405020304" pitchFamily="18" charset="0"/>
              </a:rPr>
              <a:t> showed consistent engagement over 1000+ days</a:t>
            </a:r>
          </a:p>
        </p:txBody>
      </p:sp>
    </p:spTree>
    <p:extLst>
      <p:ext uri="{BB962C8B-B14F-4D97-AF65-F5344CB8AC3E}">
        <p14:creationId xmlns:p14="http://schemas.microsoft.com/office/powerpoint/2010/main" val="3239262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519D-5CAE-2B38-2060-A4A252A9A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BF40E-B521-C0C5-9DD6-1C7DAC1B92BE}"/>
              </a:ext>
            </a:extLst>
          </p:cNvPr>
          <p:cNvSpPr>
            <a:spLocks noGrp="1"/>
          </p:cNvSpPr>
          <p:nvPr>
            <p:ph type="title"/>
          </p:nvPr>
        </p:nvSpPr>
        <p:spPr>
          <a:xfrm>
            <a:off x="700548" y="342901"/>
            <a:ext cx="10515600" cy="975946"/>
          </a:xfrm>
        </p:spPr>
        <p:txBody>
          <a:bodyPr>
            <a:normAutofit/>
          </a:bodyPr>
          <a:lstStyle/>
          <a:p>
            <a:pPr algn="ctr"/>
            <a:r>
              <a:rPr lang="en-US" sz="3600" b="1" i="1" dirty="0">
                <a:latin typeface="Times New Roman" panose="02020603050405020304" pitchFamily="18" charset="0"/>
                <a:cs typeface="Times New Roman" panose="02020603050405020304" pitchFamily="18" charset="0"/>
              </a:rPr>
              <a:t>City-wise Revenue &amp; Invoice Performance Summary</a:t>
            </a:r>
            <a:endParaRPr lang="en-IN" sz="3600" b="1" i="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2917FE-9F04-574A-3082-46E69F5FD992}"/>
              </a:ext>
            </a:extLst>
          </p:cNvPr>
          <p:cNvPicPr>
            <a:picLocks noChangeAspect="1"/>
          </p:cNvPicPr>
          <p:nvPr/>
        </p:nvPicPr>
        <p:blipFill>
          <a:blip r:embed="rId2"/>
          <a:stretch>
            <a:fillRect/>
          </a:stretch>
        </p:blipFill>
        <p:spPr>
          <a:xfrm>
            <a:off x="7285704" y="2212200"/>
            <a:ext cx="4639846" cy="2728196"/>
          </a:xfrm>
          <a:prstGeom prst="rect">
            <a:avLst/>
          </a:prstGeom>
        </p:spPr>
      </p:pic>
      <p:sp>
        <p:nvSpPr>
          <p:cNvPr id="7" name="Rectangle 1">
            <a:extLst>
              <a:ext uri="{FF2B5EF4-FFF2-40B4-BE49-F238E27FC236}">
                <a16:creationId xmlns:a16="http://schemas.microsoft.com/office/drawing/2014/main" id="{510D0A76-2BCF-F286-0093-B2243BD0D7A6}"/>
              </a:ext>
            </a:extLst>
          </p:cNvPr>
          <p:cNvSpPr>
            <a:spLocks noGrp="1" noChangeArrowheads="1"/>
          </p:cNvSpPr>
          <p:nvPr>
            <p:ph idx="1"/>
          </p:nvPr>
        </p:nvSpPr>
        <p:spPr bwMode="auto">
          <a:xfrm>
            <a:off x="341429" y="1573476"/>
            <a:ext cx="694427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Prague leads with the highest revenue (273.24) and most invoices (30) — strongest performing market.</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São Paulo, Mountain View, Berlin, London, and Paris form the mid-tier group, each generating 150–170 range revenue with 18–22 invoices.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Porto, Brasília, Dublin, and Delhi show lower revenue (80–115) and fewer invoices (13–16) — indicating smaller customer bases or lower sales activity.</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trend: Cities with higher invoice counts also show higher revenue, suggesting strong correlation between volume of transactions and earnings.</a:t>
            </a:r>
          </a:p>
        </p:txBody>
      </p:sp>
    </p:spTree>
    <p:extLst>
      <p:ext uri="{BB962C8B-B14F-4D97-AF65-F5344CB8AC3E}">
        <p14:creationId xmlns:p14="http://schemas.microsoft.com/office/powerpoint/2010/main" val="3169710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766A-B7DC-85BE-91A9-873820FEB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FF6A9-AFBB-47A2-9CA0-33DF1C5DCFBB}"/>
              </a:ext>
            </a:extLst>
          </p:cNvPr>
          <p:cNvSpPr>
            <a:spLocks noGrp="1"/>
          </p:cNvSpPr>
          <p:nvPr>
            <p:ph type="title"/>
          </p:nvPr>
        </p:nvSpPr>
        <p:spPr>
          <a:xfrm>
            <a:off x="682869" y="255639"/>
            <a:ext cx="10515600" cy="923192"/>
          </a:xfrm>
        </p:spPr>
        <p:txBody>
          <a:bodyPr>
            <a:normAutofit/>
          </a:bodyPr>
          <a:lstStyle/>
          <a:p>
            <a:pPr algn="ctr"/>
            <a:r>
              <a:rPr lang="en-IN" sz="3600" b="1" i="1" dirty="0">
                <a:latin typeface="Times New Roman" panose="02020603050405020304" pitchFamily="18" charset="0"/>
                <a:cs typeface="Times New Roman" panose="02020603050405020304" pitchFamily="18" charset="0"/>
              </a:rPr>
              <a:t>Genre &amp; Track-Level Sales Analysis</a:t>
            </a:r>
          </a:p>
        </p:txBody>
      </p:sp>
      <p:sp>
        <p:nvSpPr>
          <p:cNvPr id="3" name="Content Placeholder 2">
            <a:extLst>
              <a:ext uri="{FF2B5EF4-FFF2-40B4-BE49-F238E27FC236}">
                <a16:creationId xmlns:a16="http://schemas.microsoft.com/office/drawing/2014/main" id="{B682FE24-2B5B-8196-56D2-13B113367F31}"/>
              </a:ext>
            </a:extLst>
          </p:cNvPr>
          <p:cNvSpPr>
            <a:spLocks noGrp="1"/>
          </p:cNvSpPr>
          <p:nvPr>
            <p:ph idx="1"/>
          </p:nvPr>
        </p:nvSpPr>
        <p:spPr>
          <a:xfrm>
            <a:off x="908539" y="2674374"/>
            <a:ext cx="6760622" cy="4049698"/>
          </a:xfrm>
        </p:spPr>
        <p:txBody>
          <a:bodyPr>
            <a:normAutofit lnSpcReduction="10000"/>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Rock was the top-performing genre, contributing over 50% of total U.S. revenue</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Other strong genres included Alternative &amp; Punk, Metal, and R&amp;B/Soul</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Top-selling track: </a:t>
            </a:r>
            <a:r>
              <a:rPr lang="en-US" altLang="en-US" sz="2000" i="1" dirty="0">
                <a:latin typeface="Times New Roman" panose="02020603050405020304" pitchFamily="18" charset="0"/>
                <a:cs typeface="Times New Roman" panose="02020603050405020304" pitchFamily="18" charset="0"/>
              </a:rPr>
              <a:t>War Pigs</a:t>
            </a:r>
            <a:r>
              <a:rPr lang="en-US" altLang="en-US" sz="2000" dirty="0">
                <a:latin typeface="Times New Roman" panose="02020603050405020304" pitchFamily="18" charset="0"/>
                <a:cs typeface="Times New Roman" panose="02020603050405020304" pitchFamily="18" charset="0"/>
              </a:rPr>
              <a:t> by Cake</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Best-selling artists: Van Halen, Nirvana, The Rolling Stones, and R.E.M.</a:t>
            </a:r>
          </a:p>
          <a:p>
            <a:pPr algn="just"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Customers showed clear preference for high-energy, band-driven genres, especially in English-speaking countries</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2034714-DB5B-0464-99D5-F530A25246AF}"/>
              </a:ext>
            </a:extLst>
          </p:cNvPr>
          <p:cNvPicPr>
            <a:picLocks noChangeAspect="1"/>
          </p:cNvPicPr>
          <p:nvPr/>
        </p:nvPicPr>
        <p:blipFill>
          <a:blip r:embed="rId2"/>
          <a:stretch>
            <a:fillRect/>
          </a:stretch>
        </p:blipFill>
        <p:spPr>
          <a:xfrm>
            <a:off x="7756776" y="3266964"/>
            <a:ext cx="4435224" cy="2651990"/>
          </a:xfrm>
          <a:prstGeom prst="rect">
            <a:avLst/>
          </a:prstGeom>
        </p:spPr>
      </p:pic>
      <p:sp>
        <p:nvSpPr>
          <p:cNvPr id="4" name="Content Placeholder 2">
            <a:extLst>
              <a:ext uri="{FF2B5EF4-FFF2-40B4-BE49-F238E27FC236}">
                <a16:creationId xmlns:a16="http://schemas.microsoft.com/office/drawing/2014/main" id="{BDB28A12-A3BF-6ED9-F69D-F5412D1D6DD2}"/>
              </a:ext>
            </a:extLst>
          </p:cNvPr>
          <p:cNvSpPr txBox="1">
            <a:spLocks/>
          </p:cNvSpPr>
          <p:nvPr/>
        </p:nvSpPr>
        <p:spPr>
          <a:xfrm>
            <a:off x="938036" y="1305047"/>
            <a:ext cx="10005267" cy="15386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200" dirty="0">
                <a:latin typeface="Times New Roman" panose="02020603050405020304" pitchFamily="18" charset="0"/>
                <a:cs typeface="Times New Roman" panose="02020603050405020304" pitchFamily="18" charset="0"/>
              </a:rPr>
              <a:t>To better evaluate product performance, I analyzed track purchases, genre popularity, and artist-level sales. I linked the invoice_line, track, genre, and artist columns to see which music categories and artists received the greatest revenue, particularly in the United States.</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5835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6FAB5-8CFD-D34B-B8F2-7132AFAE90C6}"/>
              </a:ext>
            </a:extLst>
          </p:cNvPr>
          <p:cNvSpPr>
            <a:spLocks noGrp="1"/>
          </p:cNvSpPr>
          <p:nvPr>
            <p:ph type="title"/>
          </p:nvPr>
        </p:nvSpPr>
        <p:spPr>
          <a:xfrm>
            <a:off x="748197" y="301928"/>
            <a:ext cx="10515600" cy="923192"/>
          </a:xfrm>
        </p:spPr>
        <p:txBody>
          <a:bodyPr>
            <a:normAutofit/>
          </a:bodyPr>
          <a:lstStyle/>
          <a:p>
            <a:pPr algn="ctr"/>
            <a:r>
              <a:rPr lang="en-HK" sz="3600" b="1" i="1" dirty="0">
                <a:latin typeface="Times New Roman" panose="02020603050405020304" pitchFamily="18" charset="0"/>
                <a:cs typeface="Times New Roman" panose="02020603050405020304" pitchFamily="18" charset="0"/>
              </a:rPr>
              <a:t>Artist Revenue Contribution Summary</a:t>
            </a:r>
            <a:endParaRPr lang="en-IN" sz="3600" b="1" i="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AF5BAAD-4E72-D60E-8699-AF69AFF1A8F9}"/>
              </a:ext>
            </a:extLst>
          </p:cNvPr>
          <p:cNvPicPr>
            <a:picLocks noChangeAspect="1"/>
          </p:cNvPicPr>
          <p:nvPr/>
        </p:nvPicPr>
        <p:blipFill>
          <a:blip r:embed="rId2"/>
          <a:stretch>
            <a:fillRect/>
          </a:stretch>
        </p:blipFill>
        <p:spPr>
          <a:xfrm>
            <a:off x="7431340" y="1858297"/>
            <a:ext cx="4397121" cy="3539613"/>
          </a:xfrm>
          <a:prstGeom prst="rect">
            <a:avLst/>
          </a:prstGeom>
        </p:spPr>
      </p:pic>
      <p:sp>
        <p:nvSpPr>
          <p:cNvPr id="4" name="Rectangle 1">
            <a:extLst>
              <a:ext uri="{FF2B5EF4-FFF2-40B4-BE49-F238E27FC236}">
                <a16:creationId xmlns:a16="http://schemas.microsoft.com/office/drawing/2014/main" id="{C6868EFD-D57A-8C2A-BD76-E1BC9DEF93B7}"/>
              </a:ext>
            </a:extLst>
          </p:cNvPr>
          <p:cNvSpPr>
            <a:spLocks noGrp="1" noChangeArrowheads="1"/>
          </p:cNvSpPr>
          <p:nvPr>
            <p:ph idx="1"/>
          </p:nvPr>
        </p:nvSpPr>
        <p:spPr bwMode="auto">
          <a:xfrm>
            <a:off x="748197" y="1519720"/>
            <a:ext cx="653870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Van Halen generates the highest revenue (42.57), making them the top-performing artist.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 (37.62) and The Rolling Stones (36.63) form the mid-tier performers, contributing strong and consistent revenue.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Nirvana (34.65) and Foo Fighters (33.66) show stable but slightly lower revenue, still contributing significantly to overall sales.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distribution across artists is fairly balanced, with no extreme outliers—indicating a diversified revenue stream.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 opportunity: Increasing promotional strategies for Nirvana and Foo Fighters could help close the gap with top performers.</a:t>
            </a:r>
          </a:p>
        </p:txBody>
      </p:sp>
    </p:spTree>
    <p:extLst>
      <p:ext uri="{BB962C8B-B14F-4D97-AF65-F5344CB8AC3E}">
        <p14:creationId xmlns:p14="http://schemas.microsoft.com/office/powerpoint/2010/main" val="2728793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9C4A-4992-C569-050B-3464DF500522}"/>
              </a:ext>
            </a:extLst>
          </p:cNvPr>
          <p:cNvSpPr>
            <a:spLocks noGrp="1"/>
          </p:cNvSpPr>
          <p:nvPr>
            <p:ph type="title"/>
          </p:nvPr>
        </p:nvSpPr>
        <p:spPr>
          <a:xfrm>
            <a:off x="838200" y="18255"/>
            <a:ext cx="10515600" cy="940107"/>
          </a:xfrm>
        </p:spPr>
        <p:txBody>
          <a:bodyPr>
            <a:normAutofit/>
          </a:bodyPr>
          <a:lstStyle/>
          <a:p>
            <a:pPr algn="ctr"/>
            <a:r>
              <a:rPr lang="en-IN" sz="3600" b="1" i="1" dirty="0">
                <a:latin typeface="Times New Roman" panose="02020603050405020304" pitchFamily="18" charset="0"/>
                <a:cs typeface="Times New Roman" panose="02020603050405020304" pitchFamily="18" charset="0"/>
              </a:rPr>
              <a:t>Churn Rate &amp; Retention Metrics</a:t>
            </a:r>
          </a:p>
        </p:txBody>
      </p:sp>
      <p:sp>
        <p:nvSpPr>
          <p:cNvPr id="3" name="Content Placeholder 2">
            <a:extLst>
              <a:ext uri="{FF2B5EF4-FFF2-40B4-BE49-F238E27FC236}">
                <a16:creationId xmlns:a16="http://schemas.microsoft.com/office/drawing/2014/main" id="{B8D20238-30D3-A964-9FC3-D012A1FF7F85}"/>
              </a:ext>
            </a:extLst>
          </p:cNvPr>
          <p:cNvSpPr>
            <a:spLocks noGrp="1"/>
          </p:cNvSpPr>
          <p:nvPr>
            <p:ph idx="1"/>
          </p:nvPr>
        </p:nvSpPr>
        <p:spPr>
          <a:xfrm>
            <a:off x="222740" y="958362"/>
            <a:ext cx="6846276" cy="5658748"/>
          </a:xfrm>
        </p:spPr>
        <p:txBody>
          <a:bodyPr>
            <a:normAutofit fontScale="92500" lnSpcReduction="10000"/>
          </a:bodyPr>
          <a:lstStyle/>
          <a:p>
            <a:pPr marL="0" indent="0" algn="just">
              <a:buNone/>
            </a:pPr>
            <a:r>
              <a:rPr lang="en-US" sz="2200" dirty="0">
                <a:latin typeface="Times New Roman" panose="02020603050405020304" pitchFamily="18" charset="0"/>
                <a:cs typeface="Times New Roman" panose="02020603050405020304" pitchFamily="18" charset="0"/>
              </a:rPr>
              <a:t>To analyze customer retention, I defined churned customers as those who had not made a purchase within 90 days of the most recent invoice date (2020-12-30).</a:t>
            </a:r>
          </a:p>
          <a:p>
            <a:pPr marL="0" indent="0" algn="just">
              <a:buNone/>
            </a:pPr>
            <a:r>
              <a:rPr lang="en-US" sz="2200" dirty="0">
                <a:latin typeface="Times New Roman" panose="02020603050405020304" pitchFamily="18" charset="0"/>
                <a:cs typeface="Times New Roman" panose="02020603050405020304" pitchFamily="18" charset="0"/>
              </a:rPr>
              <a:t>Using SQL date filters, I distinguished between active and inactive customers and determined the churn rate.</a:t>
            </a:r>
          </a:p>
          <a:p>
            <a:pPr marL="0" indent="0">
              <a:buNone/>
            </a:pPr>
            <a:endParaRPr lang="en-US" sz="25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200" dirty="0">
                <a:latin typeface="Times New Roman" panose="02020603050405020304" pitchFamily="18" charset="0"/>
                <a:cs typeface="Times New Roman" panose="02020603050405020304" pitchFamily="18" charset="0"/>
              </a:rPr>
              <a:t>Out of 59 total customers, 22 were churned, giving a churn rate of 37.29%</a:t>
            </a:r>
          </a:p>
          <a:p>
            <a:pPr algn="just" eaLnBrk="0" fontAlgn="base" hangingPunct="0">
              <a:lnSpc>
                <a:spcPct val="100000"/>
              </a:lnSpc>
              <a:spcBef>
                <a:spcPct val="0"/>
              </a:spcBef>
              <a:spcAft>
                <a:spcPct val="0"/>
              </a:spcAft>
            </a:pPr>
            <a:endParaRPr lang="en-US" altLang="en-US" sz="22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200" dirty="0">
                <a:latin typeface="Times New Roman" panose="02020603050405020304" pitchFamily="18" charset="0"/>
                <a:cs typeface="Times New Roman" panose="02020603050405020304" pitchFamily="18" charset="0"/>
              </a:rPr>
              <a:t>Churned users typically made less than 10 purchases, with shorter engagement spans</a:t>
            </a:r>
          </a:p>
          <a:p>
            <a:pPr algn="just" eaLnBrk="0" fontAlgn="base" hangingPunct="0">
              <a:lnSpc>
                <a:spcPct val="100000"/>
              </a:lnSpc>
              <a:spcBef>
                <a:spcPct val="0"/>
              </a:spcBef>
              <a:spcAft>
                <a:spcPct val="0"/>
              </a:spcAft>
            </a:pPr>
            <a:endParaRPr lang="en-US" altLang="en-US" sz="22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200" dirty="0">
                <a:latin typeface="Times New Roman" panose="02020603050405020304" pitchFamily="18" charset="0"/>
                <a:cs typeface="Times New Roman" panose="02020603050405020304" pitchFamily="18" charset="0"/>
              </a:rPr>
              <a:t>High-value customers like </a:t>
            </a:r>
            <a:r>
              <a:rPr lang="en-US" altLang="en-US" sz="2200" i="1" dirty="0">
                <a:latin typeface="Times New Roman" panose="02020603050405020304" pitchFamily="18" charset="0"/>
                <a:cs typeface="Times New Roman" panose="02020603050405020304" pitchFamily="18" charset="0"/>
              </a:rPr>
              <a:t>Manoj Pareek</a:t>
            </a:r>
            <a:r>
              <a:rPr lang="en-US" altLang="en-US" sz="2200" dirty="0">
                <a:latin typeface="Times New Roman" panose="02020603050405020304" pitchFamily="18" charset="0"/>
                <a:cs typeface="Times New Roman" panose="02020603050405020304" pitchFamily="18" charset="0"/>
              </a:rPr>
              <a:t> and </a:t>
            </a:r>
            <a:r>
              <a:rPr lang="en-US" altLang="en-US" sz="2200" i="1" dirty="0">
                <a:latin typeface="Times New Roman" panose="02020603050405020304" pitchFamily="18" charset="0"/>
                <a:cs typeface="Times New Roman" panose="02020603050405020304" pitchFamily="18" charset="0"/>
              </a:rPr>
              <a:t>François Tremblay</a:t>
            </a:r>
            <a:r>
              <a:rPr lang="en-US" altLang="en-US" sz="2200" dirty="0">
                <a:latin typeface="Times New Roman" panose="02020603050405020304" pitchFamily="18" charset="0"/>
                <a:cs typeface="Times New Roman" panose="02020603050405020304" pitchFamily="18" charset="0"/>
              </a:rPr>
              <a:t> churned despite good spending history shows a missed retention opportunity</a:t>
            </a:r>
          </a:p>
          <a:p>
            <a:pPr algn="just" eaLnBrk="0" fontAlgn="base" hangingPunct="0">
              <a:lnSpc>
                <a:spcPct val="100000"/>
              </a:lnSpc>
              <a:spcBef>
                <a:spcPct val="0"/>
              </a:spcBef>
              <a:spcAft>
                <a:spcPct val="0"/>
              </a:spcAft>
            </a:pPr>
            <a:endParaRPr lang="en-US" altLang="en-US" sz="22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lang="en-US" altLang="en-US" sz="2200" dirty="0">
                <a:latin typeface="Times New Roman" panose="02020603050405020304" pitchFamily="18" charset="0"/>
                <a:cs typeface="Times New Roman" panose="02020603050405020304" pitchFamily="18" charset="0"/>
              </a:rPr>
              <a:t>Most churned customers dropped off after mid-2020, possibly due to product fatigue or lack of engagement</a:t>
            </a:r>
          </a:p>
          <a:p>
            <a:pPr marL="0" indent="0">
              <a:buNone/>
            </a:pPr>
            <a:endParaRPr lang="en-IN" sz="25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F5C4AA9-2D0C-D013-2167-2E64772F3547}"/>
              </a:ext>
            </a:extLst>
          </p:cNvPr>
          <p:cNvPicPr>
            <a:picLocks noChangeAspect="1"/>
          </p:cNvPicPr>
          <p:nvPr/>
        </p:nvPicPr>
        <p:blipFill>
          <a:blip r:embed="rId2"/>
          <a:stretch>
            <a:fillRect/>
          </a:stretch>
        </p:blipFill>
        <p:spPr>
          <a:xfrm>
            <a:off x="7177171" y="2332607"/>
            <a:ext cx="4913480" cy="2644369"/>
          </a:xfrm>
          <a:prstGeom prst="rect">
            <a:avLst/>
          </a:prstGeom>
        </p:spPr>
      </p:pic>
    </p:spTree>
    <p:extLst>
      <p:ext uri="{BB962C8B-B14F-4D97-AF65-F5344CB8AC3E}">
        <p14:creationId xmlns:p14="http://schemas.microsoft.com/office/powerpoint/2010/main" val="2705446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AE70-9F4C-D1A4-38AA-93C687D3EBB8}"/>
              </a:ext>
            </a:extLst>
          </p:cNvPr>
          <p:cNvSpPr>
            <a:spLocks noGrp="1"/>
          </p:cNvSpPr>
          <p:nvPr>
            <p:ph type="title"/>
          </p:nvPr>
        </p:nvSpPr>
        <p:spPr>
          <a:xfrm>
            <a:off x="651387" y="441707"/>
            <a:ext cx="10515600" cy="904937"/>
          </a:xfrm>
        </p:spPr>
        <p:txBody>
          <a:bodyPr>
            <a:normAutofit/>
          </a:bodyPr>
          <a:lstStyle/>
          <a:p>
            <a:pPr algn="ctr"/>
            <a:r>
              <a:rPr lang="en-IN" sz="3600" b="1" i="1" dirty="0">
                <a:latin typeface="Times New Roman" panose="02020603050405020304" pitchFamily="18" charset="0"/>
                <a:cs typeface="Times New Roman" panose="02020603050405020304" pitchFamily="18" charset="0"/>
              </a:rPr>
              <a:t>Customer Segmentation &amp; CLTV</a:t>
            </a:r>
          </a:p>
        </p:txBody>
      </p:sp>
      <p:sp>
        <p:nvSpPr>
          <p:cNvPr id="4" name="Rectangle 1">
            <a:extLst>
              <a:ext uri="{FF2B5EF4-FFF2-40B4-BE49-F238E27FC236}">
                <a16:creationId xmlns:a16="http://schemas.microsoft.com/office/drawing/2014/main" id="{D7E85070-A357-BB82-4455-19DAF1BC94AC}"/>
              </a:ext>
            </a:extLst>
          </p:cNvPr>
          <p:cNvSpPr>
            <a:spLocks noGrp="1" noChangeArrowheads="1"/>
          </p:cNvSpPr>
          <p:nvPr>
            <p:ph idx="1"/>
          </p:nvPr>
        </p:nvSpPr>
        <p:spPr bwMode="auto">
          <a:xfrm>
            <a:off x="257151" y="1755980"/>
            <a:ext cx="717745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a:t>
            </a:r>
            <a:r>
              <a:rPr lang="en-IN" sz="2000" dirty="0">
                <a:latin typeface="Times New Roman" panose="02020603050405020304" pitchFamily="18" charset="0"/>
                <a:cs typeface="Times New Roman" panose="02020603050405020304" pitchFamily="18" charset="0"/>
              </a:rPr>
              <a:t>Customer Lifetime Value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customers like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František Wichterlová</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Helena Holý</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stayed active for over 1000+ days with 12–18 purchases</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Mid-value customers had shorter tenure and fewer orders, but still consistent spending</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Low-CLTV customers had fewer than 6 purchases, low engagement, and dropped early</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churned customers had high CLTV — strong targets for win-back strategies</a:t>
            </a:r>
          </a:p>
        </p:txBody>
      </p:sp>
      <p:graphicFrame>
        <p:nvGraphicFramePr>
          <p:cNvPr id="6" name="Chart 5">
            <a:extLst>
              <a:ext uri="{FF2B5EF4-FFF2-40B4-BE49-F238E27FC236}">
                <a16:creationId xmlns:a16="http://schemas.microsoft.com/office/drawing/2014/main" id="{4360AAA2-8989-2AED-F0BC-00E781124BA5}"/>
              </a:ext>
            </a:extLst>
          </p:cNvPr>
          <p:cNvGraphicFramePr>
            <a:graphicFrameLocks/>
          </p:cNvGraphicFramePr>
          <p:nvPr>
            <p:extLst>
              <p:ext uri="{D42A27DB-BD31-4B8C-83A1-F6EECF244321}">
                <p14:modId xmlns:p14="http://schemas.microsoft.com/office/powerpoint/2010/main" val="3662475662"/>
              </p:ext>
            </p:extLst>
          </p:nvPr>
        </p:nvGraphicFramePr>
        <p:xfrm>
          <a:off x="7552592" y="1573822"/>
          <a:ext cx="4572000" cy="41499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6213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15081-F6E9-6CE7-ED5F-211CB34E1D91}"/>
              </a:ext>
            </a:extLst>
          </p:cNvPr>
          <p:cNvSpPr>
            <a:spLocks noGrp="1"/>
          </p:cNvSpPr>
          <p:nvPr>
            <p:ph type="title"/>
          </p:nvPr>
        </p:nvSpPr>
        <p:spPr>
          <a:xfrm>
            <a:off x="838200" y="18255"/>
            <a:ext cx="10515600" cy="1054407"/>
          </a:xfrm>
        </p:spPr>
        <p:txBody>
          <a:bodyPr>
            <a:normAutofit/>
          </a:bodyPr>
          <a:lstStyle/>
          <a:p>
            <a:pPr algn="ctr"/>
            <a:r>
              <a:rPr lang="en-IN" sz="3600" b="1" i="1" dirty="0">
                <a:latin typeface="Times New Roman" panose="02020603050405020304" pitchFamily="18" charset="0"/>
                <a:cs typeface="Times New Roman" panose="02020603050405020304" pitchFamily="18" charset="0"/>
              </a:rPr>
              <a:t>Geographical Performance Overview</a:t>
            </a:r>
          </a:p>
        </p:txBody>
      </p:sp>
      <p:sp>
        <p:nvSpPr>
          <p:cNvPr id="4" name="Rectangle 1">
            <a:extLst>
              <a:ext uri="{FF2B5EF4-FFF2-40B4-BE49-F238E27FC236}">
                <a16:creationId xmlns:a16="http://schemas.microsoft.com/office/drawing/2014/main" id="{51B11870-C7A5-13DA-78C4-454EE25E63BE}"/>
              </a:ext>
            </a:extLst>
          </p:cNvPr>
          <p:cNvSpPr>
            <a:spLocks noGrp="1" noChangeArrowheads="1"/>
          </p:cNvSpPr>
          <p:nvPr>
            <p:ph idx="1"/>
          </p:nvPr>
        </p:nvSpPr>
        <p:spPr bwMode="auto">
          <a:xfrm>
            <a:off x="407377" y="1653545"/>
            <a:ext cx="5791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Czech Republic, Ireland, and Spain had the highest avg spend per customer (1000+)</a:t>
            </a:r>
          </a:p>
          <a:p>
            <a:pPr algn="just" eaLnBrk="0" fontAlgn="base" hangingPunct="0">
              <a:lnSpc>
                <a:spcPct val="100000"/>
              </a:lnSpc>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 had the largest customer base (13), but slightly lower per-customer spend</a:t>
            </a:r>
          </a:p>
          <a:p>
            <a:pPr algn="just" eaLnBrk="0" fontAlgn="base" hangingPunct="0">
              <a:lnSpc>
                <a:spcPct val="100000"/>
              </a:lnSpc>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Germany, and Brazil showed balanced performance mid-to-high spend and solid track purchases</a:t>
            </a:r>
          </a:p>
          <a:p>
            <a:pPr algn="just" eaLnBrk="0" fontAlgn="base" hangingPunct="0">
              <a:lnSpc>
                <a:spcPct val="100000"/>
              </a:lnSpc>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Low-engagement countries like Denmark and Argentina had &lt; 500 avg spend</a:t>
            </a:r>
          </a:p>
        </p:txBody>
      </p:sp>
      <p:pic>
        <p:nvPicPr>
          <p:cNvPr id="6" name="Picture 5">
            <a:extLst>
              <a:ext uri="{FF2B5EF4-FFF2-40B4-BE49-F238E27FC236}">
                <a16:creationId xmlns:a16="http://schemas.microsoft.com/office/drawing/2014/main" id="{96935048-8DA9-8AA1-274F-01D2E2E44469}"/>
              </a:ext>
            </a:extLst>
          </p:cNvPr>
          <p:cNvPicPr>
            <a:picLocks noChangeAspect="1"/>
          </p:cNvPicPr>
          <p:nvPr/>
        </p:nvPicPr>
        <p:blipFill>
          <a:blip r:embed="rId2"/>
          <a:stretch>
            <a:fillRect/>
          </a:stretch>
        </p:blipFill>
        <p:spPr>
          <a:xfrm>
            <a:off x="6396544" y="1284214"/>
            <a:ext cx="5588977" cy="4900276"/>
          </a:xfrm>
          <a:prstGeom prst="rect">
            <a:avLst/>
          </a:prstGeom>
        </p:spPr>
      </p:pic>
    </p:spTree>
    <p:extLst>
      <p:ext uri="{BB962C8B-B14F-4D97-AF65-F5344CB8AC3E}">
        <p14:creationId xmlns:p14="http://schemas.microsoft.com/office/powerpoint/2010/main" val="56238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5BD7-E128-F103-020E-4583F4592754}"/>
              </a:ext>
            </a:extLst>
          </p:cNvPr>
          <p:cNvSpPr>
            <a:spLocks noGrp="1"/>
          </p:cNvSpPr>
          <p:nvPr>
            <p:ph type="title"/>
          </p:nvPr>
        </p:nvSpPr>
        <p:spPr>
          <a:xfrm>
            <a:off x="838200" y="18256"/>
            <a:ext cx="10515600" cy="1045614"/>
          </a:xfrm>
        </p:spPr>
        <p:txBody>
          <a:bodyPr>
            <a:normAutofit/>
          </a:bodyPr>
          <a:lstStyle/>
          <a:p>
            <a:pPr algn="ctr"/>
            <a:r>
              <a:rPr lang="en-IN" sz="3600" b="1" i="1" dirty="0">
                <a:latin typeface="Times New Roman" panose="02020603050405020304" pitchFamily="18" charset="0"/>
                <a:cs typeface="Times New Roman" panose="02020603050405020304" pitchFamily="18" charset="0"/>
              </a:rPr>
              <a:t>Strategic Business Recommendations</a:t>
            </a:r>
          </a:p>
        </p:txBody>
      </p:sp>
      <p:sp>
        <p:nvSpPr>
          <p:cNvPr id="3" name="Content Placeholder 2">
            <a:extLst>
              <a:ext uri="{FF2B5EF4-FFF2-40B4-BE49-F238E27FC236}">
                <a16:creationId xmlns:a16="http://schemas.microsoft.com/office/drawing/2014/main" id="{38A69D8F-4298-EF70-5359-5A02820CA7F6}"/>
              </a:ext>
            </a:extLst>
          </p:cNvPr>
          <p:cNvSpPr>
            <a:spLocks noGrp="1"/>
          </p:cNvSpPr>
          <p:nvPr>
            <p:ph idx="1"/>
          </p:nvPr>
        </p:nvSpPr>
        <p:spPr>
          <a:xfrm>
            <a:off x="838200" y="1271709"/>
            <a:ext cx="10515600" cy="5480112"/>
          </a:xfrm>
        </p:spPr>
        <p:txBody>
          <a:bodyPr>
            <a:noAutofit/>
          </a:bodyPr>
          <a:lstStyle/>
          <a:p>
            <a:r>
              <a:rPr lang="en-US" sz="2200" dirty="0">
                <a:latin typeface="Times New Roman" panose="02020603050405020304" pitchFamily="18" charset="0"/>
                <a:cs typeface="Times New Roman" panose="02020603050405020304" pitchFamily="18" charset="0"/>
              </a:rPr>
              <a:t>Focus loyalty programs on high-CLTV customers to increase their lifetime value and retention.</a:t>
            </a:r>
          </a:p>
          <a:p>
            <a:r>
              <a:rPr lang="en-US" sz="2200" dirty="0">
                <a:latin typeface="Times New Roman" panose="02020603050405020304" pitchFamily="18" charset="0"/>
                <a:cs typeface="Times New Roman" panose="02020603050405020304" pitchFamily="18" charset="0"/>
              </a:rPr>
              <a:t>Re-engage with customers of high value such as Manoj Pareek through customized email offers or playlists.</a:t>
            </a:r>
          </a:p>
          <a:p>
            <a:r>
              <a:rPr lang="en-US" sz="2200" dirty="0">
                <a:latin typeface="Times New Roman" panose="02020603050405020304" pitchFamily="18" charset="0"/>
                <a:cs typeface="Times New Roman" panose="02020603050405020304" pitchFamily="18" charset="0"/>
              </a:rPr>
              <a:t>Bundle popular genres Rock, Alt, Metal into subscriptions to boost the average revenue per user</a:t>
            </a:r>
          </a:p>
          <a:p>
            <a:r>
              <a:rPr lang="en-US" sz="2200" dirty="0">
                <a:latin typeface="Times New Roman" panose="02020603050405020304" pitchFamily="18" charset="0"/>
                <a:cs typeface="Times New Roman" panose="02020603050405020304" pitchFamily="18" charset="0"/>
              </a:rPr>
              <a:t>Increase focus on top-performing countries Czech Republic, Ireland with specialized offers.</a:t>
            </a:r>
          </a:p>
          <a:p>
            <a:r>
              <a:rPr lang="en-US" sz="2200" dirty="0">
                <a:latin typeface="Times New Roman" panose="02020603050405020304" pitchFamily="18" charset="0"/>
                <a:cs typeface="Times New Roman" panose="02020603050405020304" pitchFamily="18" charset="0"/>
              </a:rPr>
              <a:t>Run win-back campaigns for mid-value churned consumers, promoting curated content or one-time deals.</a:t>
            </a:r>
          </a:p>
          <a:p>
            <a:r>
              <a:rPr lang="en-US" sz="2200" dirty="0">
                <a:latin typeface="Times New Roman" panose="02020603050405020304" pitchFamily="18" charset="0"/>
                <a:cs typeface="Times New Roman" panose="02020603050405020304" pitchFamily="18" charset="0"/>
              </a:rPr>
              <a:t>Avoid large spending on low-engagement locations; instead, explore smaller-scale outreach.</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866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CA14F-D254-B20F-EDE3-C2E744C43524}"/>
              </a:ext>
            </a:extLst>
          </p:cNvPr>
          <p:cNvSpPr>
            <a:spLocks noGrp="1"/>
          </p:cNvSpPr>
          <p:nvPr>
            <p:ph type="title"/>
          </p:nvPr>
        </p:nvSpPr>
        <p:spPr>
          <a:xfrm>
            <a:off x="631722" y="363794"/>
            <a:ext cx="10515600" cy="1011115"/>
          </a:xfrm>
        </p:spPr>
        <p:txBody>
          <a:bodyPr>
            <a:normAutofit/>
          </a:bodyPr>
          <a:lstStyle/>
          <a:p>
            <a:pPr algn="ctr"/>
            <a:r>
              <a:rPr lang="en-IN" sz="3600" b="1" i="1" dirty="0">
                <a:latin typeface="Times New Roman" panose="02020603050405020304" pitchFamily="18" charset="0"/>
                <a:cs typeface="Times New Roman" panose="02020603050405020304" pitchFamily="18" charset="0"/>
              </a:rPr>
              <a:t>Conclusion &amp; Key Takeaways</a:t>
            </a:r>
          </a:p>
        </p:txBody>
      </p:sp>
      <p:sp>
        <p:nvSpPr>
          <p:cNvPr id="3" name="Content Placeholder 2">
            <a:extLst>
              <a:ext uri="{FF2B5EF4-FFF2-40B4-BE49-F238E27FC236}">
                <a16:creationId xmlns:a16="http://schemas.microsoft.com/office/drawing/2014/main" id="{EDFD809D-1CE5-9998-8637-F1EA17B6C579}"/>
              </a:ext>
            </a:extLst>
          </p:cNvPr>
          <p:cNvSpPr>
            <a:spLocks noGrp="1"/>
          </p:cNvSpPr>
          <p:nvPr>
            <p:ph idx="1"/>
          </p:nvPr>
        </p:nvSpPr>
        <p:spPr>
          <a:xfrm>
            <a:off x="956187" y="1801951"/>
            <a:ext cx="10515600" cy="5525539"/>
          </a:xfrm>
        </p:spPr>
        <p:txBody>
          <a:bodyPr>
            <a:noAutofit/>
          </a:bodyPr>
          <a:lstStyle/>
          <a:p>
            <a:r>
              <a:rPr lang="en-US" sz="2200" dirty="0">
                <a:latin typeface="Times New Roman" panose="02020603050405020304" pitchFamily="18" charset="0"/>
                <a:cs typeface="Times New Roman" panose="02020603050405020304" pitchFamily="18" charset="0"/>
              </a:rPr>
              <a:t>The Chinook data indicated different variations in customer behavior, regional trends, and product preferences.</a:t>
            </a:r>
          </a:p>
          <a:p>
            <a:r>
              <a:rPr lang="en-US" sz="2200" dirty="0">
                <a:latin typeface="Times New Roman" panose="02020603050405020304" pitchFamily="18" charset="0"/>
                <a:cs typeface="Times New Roman" panose="02020603050405020304" pitchFamily="18" charset="0"/>
              </a:rPr>
              <a:t>High CLTV customers shown significant engagement – ideal prospects for loyalty programs.</a:t>
            </a:r>
          </a:p>
          <a:p>
            <a:r>
              <a:rPr lang="en-US" sz="2200" dirty="0">
                <a:latin typeface="Times New Roman" panose="02020603050405020304" pitchFamily="18" charset="0"/>
                <a:cs typeface="Times New Roman" panose="02020603050405020304" pitchFamily="18" charset="0"/>
              </a:rPr>
              <a:t>Churned users included numerous valuable customers, suggesting a retention imbalance.</a:t>
            </a:r>
          </a:p>
          <a:p>
            <a:r>
              <a:rPr lang="en-US" sz="2200" dirty="0">
                <a:latin typeface="Times New Roman" panose="02020603050405020304" pitchFamily="18" charset="0"/>
                <a:cs typeface="Times New Roman" panose="02020603050405020304" pitchFamily="18" charset="0"/>
              </a:rPr>
              <a:t>Rock and alternative genres dominated sales, particularly in high-performing countries.</a:t>
            </a:r>
          </a:p>
          <a:p>
            <a:r>
              <a:rPr lang="en-US" sz="2200" dirty="0">
                <a:latin typeface="Times New Roman" panose="02020603050405020304" pitchFamily="18" charset="0"/>
                <a:cs typeface="Times New Roman" panose="02020603050405020304" pitchFamily="18" charset="0"/>
              </a:rPr>
              <a:t>Strategic segmentation and region-specific targeting can help Chinook boost revenue, minimize churn, and achieve long-term success.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7740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8" name="Freeform: Shape 17">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AC138A8-92F9-6907-80D0-EF1651A4886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508960" y="890179"/>
            <a:ext cx="5077641" cy="5077641"/>
          </a:xfrm>
          <a:prstGeom prst="rect">
            <a:avLst/>
          </a:prstGeom>
          <a:ln>
            <a:noFill/>
          </a:ln>
        </p:spPr>
      </p:pic>
    </p:spTree>
    <p:extLst>
      <p:ext uri="{BB962C8B-B14F-4D97-AF65-F5344CB8AC3E}">
        <p14:creationId xmlns:p14="http://schemas.microsoft.com/office/powerpoint/2010/main" val="2716380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419</TotalTime>
  <Words>1267</Words>
  <Application>Microsoft Office PowerPoint</Application>
  <PresentationFormat>Widescreen</PresentationFormat>
  <Paragraphs>137</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Baskerville Old Face</vt:lpstr>
      <vt:lpstr>Berlin Sans FB</vt:lpstr>
      <vt:lpstr>Calibri</vt:lpstr>
      <vt:lpstr>Calibri Light</vt:lpstr>
      <vt:lpstr>Times New Roman</vt:lpstr>
      <vt:lpstr>Wingdings</vt:lpstr>
      <vt:lpstr>Office Theme</vt:lpstr>
      <vt:lpstr>Customer Behavior and Sales Analysis Using SQL – Chinook Music Database</vt:lpstr>
      <vt:lpstr>Contents</vt:lpstr>
      <vt:lpstr>Project Overview </vt:lpstr>
      <vt:lpstr>Project Objective</vt:lpstr>
      <vt:lpstr>Chinook database schema</vt:lpstr>
      <vt:lpstr>Database Structure &amp; Key Tables</vt:lpstr>
      <vt:lpstr>Data Cleaning &amp; Preparation</vt:lpstr>
      <vt:lpstr>Customer Purchase Behaviour Insights</vt:lpstr>
      <vt:lpstr>City-wise Revenue &amp; Invoice Performance Summary</vt:lpstr>
      <vt:lpstr>Genre &amp; Track-Level Sales Analysis</vt:lpstr>
      <vt:lpstr>Artist Revenue Contribution Summary</vt:lpstr>
      <vt:lpstr>Churn Rate &amp; Retention Metrics</vt:lpstr>
      <vt:lpstr>Customer Segmentation &amp; CLTV</vt:lpstr>
      <vt:lpstr>Geographical Performance Overview</vt:lpstr>
      <vt:lpstr>Strategic Business Recommendations</vt:lpstr>
      <vt:lpstr>Conclusion &amp; 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 TSVR</dc:creator>
  <cp:lastModifiedBy>Bindusri Viswanadhula</cp:lastModifiedBy>
  <cp:revision>14</cp:revision>
  <dcterms:created xsi:type="dcterms:W3CDTF">2025-06-06T16:42:58Z</dcterms:created>
  <dcterms:modified xsi:type="dcterms:W3CDTF">2025-12-04T11:51:41Z</dcterms:modified>
</cp:coreProperties>
</file>